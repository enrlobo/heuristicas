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1F2A"/>
                </a:solidFill>
                <a:latin typeface="Arial"/>
              </a:rPr>
              <a:t>Gap médio em relação ao ótimo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médio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VNS</c:v>
                  </c:pt>
                  <c:pt idx="1">
                    <c:v>AG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0.14</c:v>
                </c:pt>
                <c:pt idx="1">
                  <c:v>0.34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1F2A"/>
                </a:solidFill>
                <a:latin typeface="Arial"/>
              </a:rPr>
              <a:t>Tempo médio de execução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Tempo médio (s)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VNS</c:v>
                  </c:pt>
                  <c:pt idx="1">
                    <c:v>AG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0.038</c:v>
                </c:pt>
                <c:pt idx="1">
                  <c:v>0.088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VNS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15</c:v>
                  </c:pt>
                  <c:pt idx="7">
                    <c:v>20</c:v>
                  </c:pt>
                  <c:pt idx="8">
                    <c:v>40</c:v>
                  </c:pt>
                  <c:pt idx="9">
                    <c:v>60</c:v>
                  </c:pt>
                  <c:pt idx="10">
                    <c:v>80</c:v>
                  </c:pt>
                  <c:pt idx="11">
                    <c:v>100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8817</c:v>
                </c:pt>
                <c:pt idx="1">
                  <c:v>8817</c:v>
                </c:pt>
                <c:pt idx="2">
                  <c:v>8817</c:v>
                </c:pt>
                <c:pt idx="3">
                  <c:v>8817</c:v>
                </c:pt>
                <c:pt idx="4">
                  <c:v>9147</c:v>
                </c:pt>
                <c:pt idx="5">
                  <c:v>9147</c:v>
                </c:pt>
                <c:pt idx="6">
                  <c:v>9147</c:v>
                </c:pt>
                <c:pt idx="7">
                  <c:v>9147</c:v>
                </c:pt>
                <c:pt idx="8">
                  <c:v>9147</c:v>
                </c:pt>
                <c:pt idx="9">
                  <c:v>9147</c:v>
                </c:pt>
                <c:pt idx="10">
                  <c:v>9147</c:v>
                </c:pt>
                <c:pt idx="11">
                  <c:v>9147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</c:v>
                </c:pt>
              </c:strCache>
            </c:strRef>
          </c:tx>
          <c:spPr>
            <a:solidFill>
              <a:srgbClr val="E74C3C"/>
            </a:solidFill>
            <a:ln w="38100" cap="flat">
              <a:solidFill>
                <a:srgbClr val="E74C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15</c:v>
                  </c:pt>
                  <c:pt idx="7">
                    <c:v>20</c:v>
                  </c:pt>
                  <c:pt idx="8">
                    <c:v>40</c:v>
                  </c:pt>
                  <c:pt idx="9">
                    <c:v>60</c:v>
                  </c:pt>
                  <c:pt idx="10">
                    <c:v>80</c:v>
                  </c:pt>
                  <c:pt idx="11">
                    <c:v>100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8817</c:v>
                </c:pt>
                <c:pt idx="1">
                  <c:v>8929</c:v>
                </c:pt>
                <c:pt idx="2">
                  <c:v>9147</c:v>
                </c:pt>
                <c:pt idx="3">
                  <c:v>9147</c:v>
                </c:pt>
                <c:pt idx="4">
                  <c:v>9147</c:v>
                </c:pt>
                <c:pt idx="5">
                  <c:v>9147</c:v>
                </c:pt>
                <c:pt idx="6">
                  <c:v>9147</c:v>
                </c:pt>
                <c:pt idx="7">
                  <c:v>9147</c:v>
                </c:pt>
                <c:pt idx="8">
                  <c:v>9147</c:v>
                </c:pt>
                <c:pt idx="9">
                  <c:v>9147</c:v>
                </c:pt>
                <c:pt idx="10">
                  <c:v>9147</c:v>
                </c:pt>
                <c:pt idx="11">
                  <c:v>9147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479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479"/>
                    </a:solidFill>
                    <a:latin typeface="Arial"/>
                  </a:rPr>
                  <a:t>Iteração / Geração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250"/>
          <c:min val="8700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479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479"/>
                    </a:solidFill>
                    <a:latin typeface="Arial"/>
                  </a:rPr>
                  <a:t>Melhor valor encontrado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263577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26357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DA MOCHILA 0/1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VNS vs Algoritmo Genético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de duas meta-heurísticas: qualidade, tempo e convergência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Heurísticas e Meta-heurísticas  •  Trabalho Acadêmico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Knapsack 0/1: escolher itens para maximizar valor sem estourar o peso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029968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itens, cada um com peso e valor; capacidade máxima C da mochila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3081528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cada item, incluir (1) ou não incluir (0) — daí o nome "0/1"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794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4133088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maximizar o valor total sem que a soma dos pesos ultrapasse C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5184648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NP-difícil: nº de combinações cresce exponencialmente (2ⁿ)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0" y="1737360"/>
            <a:ext cx="3291840" cy="4206240"/>
          </a:xfrm>
          <a:prstGeom prst="roundRect">
            <a:avLst>
              <a:gd name="adj" fmla="val 4167"/>
            </a:avLst>
          </a:prstGeom>
          <a:solidFill>
            <a:srgbClr val="F4F6FB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965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MOCHILA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2286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 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95360" y="278892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0" y="2788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95360" y="3502152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8595360" y="350215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95360" y="4215384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5C7CE0"/>
          </a:solidFill>
          <a:ln/>
        </p:spPr>
      </p:sp>
      <p:sp>
        <p:nvSpPr>
          <p:cNvPr id="28" name="Text 26"/>
          <p:cNvSpPr/>
          <p:nvPr/>
        </p:nvSpPr>
        <p:spPr>
          <a:xfrm>
            <a:off x="8595360" y="421538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95360" y="4928616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595360" y="492861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da Mochila 0/1 — VNS vs Algoritmo Genético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Representação comum e reparo guloso, usados pelos dois algoritmos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Representação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337560"/>
            <a:ext cx="2788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solução é um vetor binário x = (x1...xn). xi = 1 significa que o item i está na mochila.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148840"/>
            <a:ext cx="502920" cy="5029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09160" y="283464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Reparo Guloso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3337560"/>
            <a:ext cx="2788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peso passa da capacidade, remove-se o item de pior razão valor/peso, um a um, até caber.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45820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58200" y="283464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 sempre válida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0" y="3337560"/>
            <a:ext cx="2788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solução gerada — por vizinhança ou por cruzamento — passa pelo reparo antes de ser avaliada.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da Mochila 0/1 — VNS vs Algoritmo Genético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Duas Heurísticas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meta-heurística local e uma populacional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03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5420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Neighborhood Search  —  busca local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3163824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99923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de 1 solução (construção gulosa)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3877056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71246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 vizinhanças N1 (1 bit), N2 (2 bits), N3 (3 bits)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4590288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442569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Perturba (shaking) + busca local até ótimo local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05840" y="530352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51389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Melhorou? volta pra N1. Não? tenta vizinhança maior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82880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103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75120" y="25420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 Genético  —  populacional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3163824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299923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População inicial: 1 indivíduo guloso + aleatórios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3877056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371246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Seleção por torneio escolhe os pais mais aptos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75120" y="4590288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442569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Crossover uniforme + mutação (bit-flip) geram filhos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75120" y="5303520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51389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Elitismo: o melhor indivíduo sempre sobrevive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da Mochila 0/1 — VNS vs Algoritmo Genético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 Experimental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os dois algoritmos foram testados e comparados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9456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instâncias testadas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 a 100 itens)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96596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219456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566160" y="30632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combinações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parâmetros por algoritmo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19456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355080" y="30632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sementes aleatórias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combinação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6840" y="196596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006840" y="219456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486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9144000" y="30632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execuções totais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(243 por algoritmo)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Bases de dados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P01 a P08 (Burkardt/FSU, 5–24 itens)  +  knapPI_1_100_1000_1 (Pisinger, 100 itens)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074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Parâmetros testados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5486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VNS: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k_max ∈ {2, 3, 5}   ×   iterações ∈ {50, 100, 200}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população ∈ {20, 50, 100}   ×   gerações ∈ {50, 100, 200}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da Mochila 0/1 — VNS vs Algoritmo Genético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Resultados: Qualidade e Tempo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Médias sobre as 243 execuções de cada algoritmo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5212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828800"/>
          <a:ext cx="5212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da Mochila 0/1 — VNS vs Algoritmo Genético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Resultados: Convergência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Instância de 100 itens (knapPI_1_100_1000_1) — melhor valor encontrado ao longo das iterações/gerações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10881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035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 convergem para o valor ótimo (9.147) em menos de 10 iterações/gerações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da Mochila 0/1 — VNS vs Algoritmo Genético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4572000" cy="4572000"/>
          </a:xfrm>
          <a:prstGeom prst="ellipse">
            <a:avLst/>
          </a:prstGeom>
          <a:solidFill>
            <a:srgbClr val="26357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508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 encontram o ótimo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9 instâncias, VNS e AG alcançaram a solução ótima exata em pelo menos uma combinação de parâmetros.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457200" cy="457200"/>
          </a:xfrm>
          <a:prstGeom prst="ellipse">
            <a:avLst/>
          </a:prstGeom>
          <a:solidFill>
            <a:srgbClr val="3D4F9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2560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VNS: mais consistente e rápido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92608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médio menor (0,14% vs 0,34%) e ~2,3x mais rápido em instâncias pequenas/médias.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65760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611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AG: mais robusto em escala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97764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Ligeira vantagem de tempo na instância de 100 itens; menos sensível ao crescimento de 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709160"/>
            <a:ext cx="457200" cy="457200"/>
          </a:xfrm>
          <a:prstGeom prst="ellipse">
            <a:avLst/>
          </a:prstGeom>
          <a:solidFill>
            <a:srgbClr val="3D4F9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depende do contexto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502920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VNS quando se quer velocidade e consistência; AG quando a instância cresce muito.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da Mochila 0/1 — VNS vs Algoritmo Genético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2026-08-29T05:36:46Z</dcterms:created>
  <dcterms:modified xsi:type="dcterms:W3CDTF">2026-08-29T05:36:46Z</dcterms:modified>
</cp:coreProperties>
</file>